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표지: 작업명·문서번호·교육 일시·대상·교육자를 바꿔 쓰세요. 이 자료는 SafePlum 표준안전작업절차서(작성기·엑셀)의 내용을 화면으로 설명하기 위한 것입니다. 예시 작업(컨베이어 벨트 청소)은 사업장 작업으로 바꿔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사고·아차사고 사례가 있으면 맨 아래 줄에 적고 이야기하세요. 근로자에게 '왜'를 먼저 설명하면 절차를 더 잘 지킵니다.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보호구는 실제로 착용한 모습을 보여 주며 설명하세요. 보호구 아이콘은 우클릭 → [그림 바꾸기]로 사업장 보호구 사진으로 바꿀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잠금·표지(LOTO)는 '다른 사람이 기계를 켜지 못하게 하는 조치'입니다(안전보건규칙 제92조제2항: 기동장치에 잠금장치를 하고 그 열쇠를 별도 관리하거나 표지판을 설치하는 등). 사업장 잠금 절차가 있으면 그 내용으로 바꾸세요.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사진은 우클릭 → [그림 바꾸기]로 실제 설비 사진으로 바꾸세요(크기·위치 유지). 가능하면 현장에서 실제로 시연하면서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사진은 우클릭 → [그림 바꾸기]로 실제 설비 사진으로 바꾸세요(크기·위치 유지). 가능하면 현장에서 실제로 시연하면서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금지 사항은 짧고 분명하게. 각 항목이 왜 위험한지 한 문장씩 덧붙여 설명하세요(예: 덮개를 뗀 채 운전하면 회전부가 그대로 드러납니다).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비상정지 스위치 위치는 현장에서 직접 눌러 보게 하는 것이 가장 좋습니다(컨베이어 비상정지장치: 안전보건규칙 제192조). 사내 비상연락 번호를 꼭 바꿔 적으세요.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— Q1. 본인 자물쇠 잠금 + 꼬리표 부착 / Q2. 자물쇠를 건 본인만 / Q3. 비상정지 스위치 → 주변에 알림. 틀린 사람은 그 자리에서 다시 설명하고, 교육 확인서의 '이해 확인' 칸에 '재교육'으로 표시하세요.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시·작업내용 변경 시 교육 내용에는 '기계·기구의 위험성과 작업의 순서 및 동선', '작업 개시 전 점검', '사고 발생 시 긴급조치'가 들어 있습니다(산업안전보건법 시행규칙 별표 5). 교육시간·대상은 교육일지로 따로 기록하세요.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</a:rPr>
              <a:t>표준안전작업절차 교육 — 컨베이어 벨트 청소(예시)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_구분"/>
          <p:cNvSpPr txBox="1"/>
          <p:nvPr/>
        </p:nvSpPr>
        <p:spPr>
          <a:xfrm>
            <a:off x="548640" y="118872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B2E"/>
                </a:solidFill>
              </a:rPr>
              <a:t>표준안전작업절차 교육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컨베이어 벨트 청소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표준안전작업절차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657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잠금·표지로 끼임 사고를 막는 6단계</a:t>
            </a:r>
            <a:endParaRPr lang="en-US" sz="1800" dirty="0"/>
          </a:p>
        </p:txBody>
      </p:sp>
      <p:sp>
        <p:nvSpPr>
          <p:cNvPr id="5" name="표지_정보카드"/>
          <p:cNvSpPr/>
          <p:nvPr/>
        </p:nvSpPr>
        <p:spPr>
          <a:xfrm>
            <a:off x="7635240" y="1188720"/>
            <a:ext cx="4023360" cy="452628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400"/>
                </a:solidFill>
              </a:rPr>
              <a:t>문서번호</a:t>
            </a:r>
            <a:endParaRPr lang="en-US" sz="1100" dirty="0"/>
          </a:p>
        </p:txBody>
      </p:sp>
      <p:sp>
        <p:nvSpPr>
          <p:cNvPr id="7" name="표지_문서번호"/>
          <p:cNvSpPr txBox="1"/>
          <p:nvPr/>
        </p:nvSpPr>
        <p:spPr>
          <a:xfrm>
            <a:off x="79552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예: SOP-생산-012 (개정 0)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400"/>
                </a:solidFill>
              </a:rPr>
              <a:t>교육 일시</a:t>
            </a:r>
            <a:endParaRPr lang="en-US" sz="1100" dirty="0"/>
          </a:p>
        </p:txBody>
      </p:sp>
      <p:sp>
        <p:nvSpPr>
          <p:cNvPr id="9" name="표지_교육 일시"/>
          <p:cNvSpPr txBox="1"/>
          <p:nvPr/>
        </p:nvSpPr>
        <p:spPr>
          <a:xfrm>
            <a:off x="795528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2026. 10. 00 (요일) 16:00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154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400"/>
                </a:solidFill>
              </a:rPr>
              <a:t>교육 대상</a:t>
            </a:r>
            <a:endParaRPr lang="en-US" sz="1100" dirty="0"/>
          </a:p>
        </p:txBody>
      </p:sp>
      <p:sp>
        <p:nvSpPr>
          <p:cNvPr id="11" name="표지_교육 대상"/>
          <p:cNvSpPr txBox="1"/>
          <p:nvPr/>
        </p:nvSpPr>
        <p:spPr>
          <a:xfrm>
            <a:off x="7955280" y="3429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예: 포장 2라인 신규 배치자 3명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77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400"/>
                </a:solidFill>
              </a:rPr>
              <a:t>교육 구분</a:t>
            </a:r>
            <a:endParaRPr lang="en-US" sz="1100" dirty="0"/>
          </a:p>
        </p:txBody>
      </p:sp>
      <p:sp>
        <p:nvSpPr>
          <p:cNvPr id="13" name="표지_교육 구분"/>
          <p:cNvSpPr txBox="1"/>
          <p:nvPr/>
        </p:nvSpPr>
        <p:spPr>
          <a:xfrm>
            <a:off x="795528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예: 작업내용 변경 시 교육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800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400"/>
                </a:solidFill>
              </a:rPr>
              <a:t>교육자</a:t>
            </a:r>
            <a:endParaRPr lang="en-US" sz="1100" dirty="0"/>
          </a:p>
        </p:txBody>
      </p:sp>
      <p:sp>
        <p:nvSpPr>
          <p:cNvPr id="15" name="표지_교육자"/>
          <p:cNvSpPr txBox="1"/>
          <p:nvPr/>
        </p:nvSpPr>
        <p:spPr>
          <a:xfrm>
            <a:off x="7955280" y="5074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관리감독자 · 성명</a:t>
            </a:r>
            <a:endParaRPr lang="en-US" sz="1600" dirty="0"/>
          </a:p>
        </p:txBody>
      </p:sp>
      <p:sp>
        <p:nvSpPr>
          <p:cNvPr id="16" name="표지_아이콘_dot"/>
          <p:cNvSpPr/>
          <p:nvPr/>
        </p:nvSpPr>
        <p:spPr>
          <a:xfrm>
            <a:off x="548640" y="4983480"/>
            <a:ext cx="566928" cy="566928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7" name="표지_아이콘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119543"/>
            <a:ext cx="294803" cy="294803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49560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정지 → 잠금 → 확인 → 작업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3"/>
                </a:solidFill>
              </a:rPr>
              <a:t>자물쇠는 건 사람만 풉니다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왜 이 절차를 지켜야 하나요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1. 이 작업의 위험</a:t>
            </a:r>
            <a:endParaRPr lang="en-US" sz="1200" dirty="0"/>
          </a:p>
        </p:txBody>
      </p:sp>
      <p:sp>
        <p:nvSpPr>
          <p:cNvPr id="4" name="핵심위험"/>
          <p:cNvSpPr/>
          <p:nvPr/>
        </p:nvSpPr>
        <p:spPr>
          <a:xfrm>
            <a:off x="548640" y="1280160"/>
            <a:ext cx="11094415" cy="1188720"/>
          </a:xfrm>
          <a:prstGeom prst="roundRect">
            <a:avLst>
              <a:gd name="adj" fmla="val 9231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5" name="핵심위험_아이콘_dot"/>
          <p:cNvSpPr/>
          <p:nvPr/>
        </p:nvSpPr>
        <p:spPr>
          <a:xfrm>
            <a:off x="822960" y="1536192"/>
            <a:ext cx="676656" cy="676656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6" name="핵심위험_아이콘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1698589"/>
            <a:ext cx="351861" cy="35186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9631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2318"/>
                </a:solidFill>
              </a:rPr>
              <a:t>청소·정비 중 기계가 갑자기 움직이면 손이 롤러 사이로 말려 들어갑니다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475467"/>
                </a:solidFill>
              </a:rPr>
              <a:t>그래서 청소 전에는 반드시 운전을 멈추고, 다른 사람이 켜지 못하게 잠급니다 (안전보건규칙 제92조)</a:t>
            </a:r>
            <a:endParaRPr lang="en-US" sz="2000" dirty="0"/>
          </a:p>
        </p:txBody>
      </p:sp>
      <p:sp>
        <p:nvSpPr>
          <p:cNvPr id="8" name="위험_끼임"/>
          <p:cNvSpPr/>
          <p:nvPr/>
        </p:nvSpPr>
        <p:spPr>
          <a:xfrm>
            <a:off x="548640" y="2743200"/>
            <a:ext cx="3515258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위험아이콘_끼임_dot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0" name="위험아이콘_끼임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23" y="315358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3072384"/>
            <a:ext cx="2235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끼임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794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467"/>
                </a:solidFill>
              </a:rPr>
              <a:t>롤러·벨트 사이에 손·옷이 말려 들어감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61772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대책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645920" y="4572000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603A"/>
                </a:solidFill>
              </a:rPr>
              <a:t>운전 정지 + 잠금·표지</a:t>
            </a:r>
            <a:endParaRPr lang="en-US" sz="1400" dirty="0"/>
          </a:p>
        </p:txBody>
      </p:sp>
      <p:sp>
        <p:nvSpPr>
          <p:cNvPr id="15" name="위험_베임"/>
          <p:cNvSpPr/>
          <p:nvPr/>
        </p:nvSpPr>
        <p:spPr>
          <a:xfrm>
            <a:off x="4338218" y="2743200"/>
            <a:ext cx="3515258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위험아이콘_베임_dot"/>
          <p:cNvSpPr/>
          <p:nvPr/>
        </p:nvSpPr>
        <p:spPr>
          <a:xfrm>
            <a:off x="4612538" y="3017520"/>
            <a:ext cx="566928" cy="566928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7" name="위험아이콘_베임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601" y="3153583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4058" y="3072384"/>
            <a:ext cx="2235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베임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4612538" y="3794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467"/>
                </a:solidFill>
              </a:rPr>
              <a:t>덮개·프레임 모서리, 스크레이퍼 날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2538" y="461772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대책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435498" y="4572000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603A"/>
                </a:solidFill>
              </a:rPr>
              <a:t>장갑 착용, 손 대신 도구 사용</a:t>
            </a:r>
            <a:endParaRPr lang="en-US" sz="1400" dirty="0"/>
          </a:p>
        </p:txBody>
      </p:sp>
      <p:sp>
        <p:nvSpPr>
          <p:cNvPr id="22" name="위험_넘어짐"/>
          <p:cNvSpPr/>
          <p:nvPr/>
        </p:nvSpPr>
        <p:spPr>
          <a:xfrm>
            <a:off x="8127797" y="2743200"/>
            <a:ext cx="3515258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위험아이콘_넘어짐_dot"/>
          <p:cNvSpPr/>
          <p:nvPr/>
        </p:nvSpPr>
        <p:spPr>
          <a:xfrm>
            <a:off x="8402117" y="3017520"/>
            <a:ext cx="566928" cy="566928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24" name="위험아이콘_넘어짐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180" y="3153583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33637" y="3072384"/>
            <a:ext cx="2235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넘어짐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794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467"/>
                </a:solidFill>
              </a:rPr>
              <a:t>청소 물기·이물로 바닥이 미끄러움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8402117" y="461772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대책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225077" y="4572000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603A"/>
                </a:solidFill>
              </a:rPr>
              <a:t>미끄럼 방지 안전화, 바로 치우기</a:t>
            </a:r>
            <a:endParaRPr lang="en-US" sz="1400" dirty="0"/>
          </a:p>
        </p:txBody>
      </p:sp>
      <p:sp>
        <p:nvSpPr>
          <p:cNvPr id="29" name="사업장사례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우리 사업장 사례  </a:t>
            </a:r>
            <a:pPr indent="0" marL="0">
              <a:buNone/>
            </a:pPr>
            <a:r>
              <a:rPr lang="en-US" sz="1300" i="1" dirty="0">
                <a:solidFill>
                  <a:srgbClr val="98A2B3"/>
                </a:solidFill>
              </a:rPr>
              <a:t>예: 작년 2라인에서 롤러 이물 제거 중 손 끼임 아차사고 1건 — 사업장 사례로 바꿔 쓰세요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작업 개요와 필수 보호구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2. 작업 개요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86400" cy="512064"/>
          </a:xfrm>
          <a:prstGeom prst="rect">
            <a:avLst/>
          </a:prstGeom>
          <a:solidFill>
            <a:srgbClr val="F2F4F7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작업명</a:t>
            </a:r>
            <a:endParaRPr lang="en-US" sz="1300" dirty="0"/>
          </a:p>
        </p:txBody>
      </p:sp>
      <p:sp>
        <p:nvSpPr>
          <p:cNvPr id="6" name="개요_작업명"/>
          <p:cNvSpPr txBox="1"/>
          <p:nvPr/>
        </p:nvSpPr>
        <p:spPr>
          <a:xfrm>
            <a:off x="2240280" y="132588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컨베이어 벨트 청소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4864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74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설비</a:t>
            </a:r>
            <a:endParaRPr lang="en-US" sz="1300" dirty="0"/>
          </a:p>
        </p:txBody>
      </p:sp>
      <p:sp>
        <p:nvSpPr>
          <p:cNvPr id="9" name="개요_설비"/>
          <p:cNvSpPr txBox="1"/>
          <p:nvPr/>
        </p:nvSpPr>
        <p:spPr>
          <a:xfrm>
            <a:off x="2240280" y="18745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포장 2라인 이송 컨베이어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5486400" cy="512064"/>
          </a:xfrm>
          <a:prstGeom prst="rect">
            <a:avLst/>
          </a:prstGeom>
          <a:solidFill>
            <a:srgbClr val="F2F4F7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231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장소</a:t>
            </a:r>
            <a:endParaRPr lang="en-US" sz="1300" dirty="0"/>
          </a:p>
        </p:txBody>
      </p:sp>
      <p:sp>
        <p:nvSpPr>
          <p:cNvPr id="12" name="개요_장소"/>
          <p:cNvSpPr txBox="1"/>
          <p:nvPr/>
        </p:nvSpPr>
        <p:spPr>
          <a:xfrm>
            <a:off x="2240280" y="242316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2공장 포장실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54864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7180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주기</a:t>
            </a:r>
            <a:endParaRPr lang="en-US" sz="1300" dirty="0"/>
          </a:p>
        </p:txBody>
      </p:sp>
      <p:sp>
        <p:nvSpPr>
          <p:cNvPr id="15" name="개요_주기"/>
          <p:cNvSpPr txBox="1"/>
          <p:nvPr/>
        </p:nvSpPr>
        <p:spPr>
          <a:xfrm>
            <a:off x="2240280" y="297180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매일 생산 종료 후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5486400" cy="512064"/>
          </a:xfrm>
          <a:prstGeom prst="rect">
            <a:avLst/>
          </a:prstGeom>
          <a:solidFill>
            <a:srgbClr val="F2F4F7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5204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인원</a:t>
            </a:r>
            <a:endParaRPr lang="en-US" sz="1300" dirty="0"/>
          </a:p>
        </p:txBody>
      </p:sp>
      <p:sp>
        <p:nvSpPr>
          <p:cNvPr id="18" name="개요_인원"/>
          <p:cNvSpPr txBox="1"/>
          <p:nvPr/>
        </p:nvSpPr>
        <p:spPr>
          <a:xfrm>
            <a:off x="2240280" y="352044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2명 (청소 1 · 확인 1)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54864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690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소요 시간</a:t>
            </a:r>
            <a:endParaRPr lang="en-US" sz="1300" dirty="0"/>
          </a:p>
        </p:txBody>
      </p:sp>
      <p:sp>
        <p:nvSpPr>
          <p:cNvPr id="21" name="개요_소요 시간"/>
          <p:cNvSpPr txBox="1"/>
          <p:nvPr/>
        </p:nvSpPr>
        <p:spPr>
          <a:xfrm>
            <a:off x="2240280" y="406908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약 30분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617720"/>
            <a:ext cx="5486400" cy="512064"/>
          </a:xfrm>
          <a:prstGeom prst="rect">
            <a:avLst/>
          </a:prstGeom>
          <a:solidFill>
            <a:srgbClr val="F2F4F7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6177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필요 교육</a:t>
            </a:r>
            <a:endParaRPr lang="en-US" sz="1300" dirty="0"/>
          </a:p>
        </p:txBody>
      </p:sp>
      <p:sp>
        <p:nvSpPr>
          <p:cNvPr id="24" name="개요_필요 교육"/>
          <p:cNvSpPr txBox="1"/>
          <p:nvPr/>
        </p:nvSpPr>
        <p:spPr>
          <a:xfrm>
            <a:off x="2240280" y="4617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잠금·표지 절차 교육 이수자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1663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467"/>
                </a:solidFill>
              </a:rPr>
              <a:t>관리감독자</a:t>
            </a:r>
            <a:endParaRPr lang="en-US" sz="1300" dirty="0"/>
          </a:p>
        </p:txBody>
      </p:sp>
      <p:sp>
        <p:nvSpPr>
          <p:cNvPr id="27" name="개요_관리감독자"/>
          <p:cNvSpPr txBox="1"/>
          <p:nvPr/>
        </p:nvSpPr>
        <p:spPr>
          <a:xfrm>
            <a:off x="2240280" y="516636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939"/>
                </a:solidFill>
              </a:rPr>
              <a:t>포장반장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1325880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필수 보호구</a:t>
            </a:r>
            <a:endParaRPr lang="en-US" sz="1600" dirty="0"/>
          </a:p>
        </p:txBody>
      </p:sp>
      <p:sp>
        <p:nvSpPr>
          <p:cNvPr id="29" name="보호구_위생모·안전모"/>
          <p:cNvSpPr/>
          <p:nvPr/>
        </p:nvSpPr>
        <p:spPr>
          <a:xfrm>
            <a:off x="6492240" y="1828800"/>
            <a:ext cx="2438248" cy="1371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0" name="보호구아이콘_1_dot"/>
          <p:cNvSpPr/>
          <p:nvPr/>
        </p:nvSpPr>
        <p:spPr>
          <a:xfrm>
            <a:off x="7327316" y="2011680"/>
            <a:ext cx="768096" cy="768096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31" name="보호구아이콘_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1659" y="2196023"/>
            <a:ext cx="399410" cy="39941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583680" y="2834640"/>
            <a:ext cx="2255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4054"/>
                </a:solidFill>
              </a:rPr>
              <a:t>위생모·안전모</a:t>
            </a:r>
            <a:endParaRPr lang="en-US" sz="1400" dirty="0"/>
          </a:p>
        </p:txBody>
      </p:sp>
      <p:sp>
        <p:nvSpPr>
          <p:cNvPr id="33" name="보호구_보안경"/>
          <p:cNvSpPr/>
          <p:nvPr/>
        </p:nvSpPr>
        <p:spPr>
          <a:xfrm>
            <a:off x="9204808" y="1828800"/>
            <a:ext cx="2438248" cy="1371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4" name="보호구아이콘_2_dot"/>
          <p:cNvSpPr/>
          <p:nvPr/>
        </p:nvSpPr>
        <p:spPr>
          <a:xfrm>
            <a:off x="10039883" y="2011680"/>
            <a:ext cx="768096" cy="768096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35" name="보호구아이콘_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226" y="2196023"/>
            <a:ext cx="399410" cy="39941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9296248" y="2834640"/>
            <a:ext cx="2255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4054"/>
                </a:solidFill>
              </a:rPr>
              <a:t>보안경</a:t>
            </a:r>
            <a:endParaRPr lang="en-US" sz="1400" dirty="0"/>
          </a:p>
        </p:txBody>
      </p:sp>
      <p:sp>
        <p:nvSpPr>
          <p:cNvPr id="37" name="보호구_미끄럼 방지 안전화"/>
          <p:cNvSpPr/>
          <p:nvPr/>
        </p:nvSpPr>
        <p:spPr>
          <a:xfrm>
            <a:off x="6492240" y="3429000"/>
            <a:ext cx="2438248" cy="1371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8" name="보호구아이콘_3_dot"/>
          <p:cNvSpPr/>
          <p:nvPr/>
        </p:nvSpPr>
        <p:spPr>
          <a:xfrm>
            <a:off x="7327316" y="3611880"/>
            <a:ext cx="768096" cy="768096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39" name="보호구아이콘_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1659" y="3796223"/>
            <a:ext cx="399410" cy="39941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583680" y="4434840"/>
            <a:ext cx="2255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4054"/>
                </a:solidFill>
              </a:rPr>
              <a:t>미끄럼 방지 안전화</a:t>
            </a:r>
            <a:endParaRPr lang="en-US" sz="1400" dirty="0"/>
          </a:p>
        </p:txBody>
      </p:sp>
      <p:sp>
        <p:nvSpPr>
          <p:cNvPr id="41" name="보호구_내수 장갑"/>
          <p:cNvSpPr/>
          <p:nvPr/>
        </p:nvSpPr>
        <p:spPr>
          <a:xfrm>
            <a:off x="9204808" y="3429000"/>
            <a:ext cx="2438248" cy="1371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2" name="보호구아이콘_4_dot"/>
          <p:cNvSpPr/>
          <p:nvPr/>
        </p:nvSpPr>
        <p:spPr>
          <a:xfrm>
            <a:off x="10039883" y="3611880"/>
            <a:ext cx="768096" cy="768096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43" name="보호구아이콘_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4226" y="3796223"/>
            <a:ext cx="399410" cy="399410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9296248" y="4434840"/>
            <a:ext cx="2255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4054"/>
                </a:solidFill>
              </a:rPr>
              <a:t>내수 장갑</a:t>
            </a:r>
            <a:endParaRPr lang="en-US" sz="1400" dirty="0"/>
          </a:p>
        </p:txBody>
      </p:sp>
      <p:sp>
        <p:nvSpPr>
          <p:cNvPr id="45" name="장비"/>
          <p:cNvSpPr/>
          <p:nvPr/>
        </p:nvSpPr>
        <p:spPr>
          <a:xfrm>
            <a:off x="6492240" y="5120640"/>
            <a:ext cx="5150815" cy="777240"/>
          </a:xfrm>
          <a:prstGeom prst="roundRect">
            <a:avLst>
              <a:gd name="adj" fmla="val 14118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720840" y="516636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준비물  </a:t>
            </a:r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개인 자물쇠·꼬리표, 스크레이퍼, 고무 밀대, 손전등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작업 전에 확인할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3. 작업 전 확인</a:t>
            </a:r>
            <a:endParaRPr lang="en-US" sz="1200" dirty="0"/>
          </a:p>
        </p:txBody>
      </p:sp>
      <p:sp>
        <p:nvSpPr>
          <p:cNvPr id="4" name="확인_1"/>
          <p:cNvSpPr/>
          <p:nvPr/>
        </p:nvSpPr>
        <p:spPr>
          <a:xfrm>
            <a:off x="548640" y="1371600"/>
            <a:ext cx="6949440" cy="694944"/>
          </a:xfrm>
          <a:prstGeom prst="roundRect">
            <a:avLst>
              <a:gd name="adj" fmla="val 15789"/>
            </a:avLst>
          </a:prstGeom>
          <a:solidFill>
            <a:srgbClr val="F2F4F7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확인아이콘_1_dot"/>
          <p:cNvSpPr/>
          <p:nvPr/>
        </p:nvSpPr>
        <p:spPr>
          <a:xfrm>
            <a:off x="731520" y="1499616"/>
            <a:ext cx="438912" cy="438912"/>
          </a:xfrm>
          <a:prstGeom prst="ellipse">
            <a:avLst/>
          </a:prstGeom>
          <a:solidFill>
            <a:srgbClr val="079455"/>
          </a:solidFill>
          <a:ln w="12700">
            <a:solidFill>
              <a:srgbClr val="079455"/>
            </a:solidFill>
            <a:prstDash val="solid"/>
          </a:ln>
        </p:spPr>
      </p:sp>
      <p:pic>
        <p:nvPicPr>
          <p:cNvPr id="6" name="확인아이콘_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604955"/>
            <a:ext cx="228234" cy="2282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939"/>
                </a:solidFill>
              </a:rPr>
              <a:t>작업 구역 정리, 통로 확보</a:t>
            </a:r>
            <a:endParaRPr lang="en-US" sz="1700" dirty="0"/>
          </a:p>
        </p:txBody>
      </p:sp>
      <p:sp>
        <p:nvSpPr>
          <p:cNvPr id="8" name="확인_2"/>
          <p:cNvSpPr/>
          <p:nvPr/>
        </p:nvSpPr>
        <p:spPr>
          <a:xfrm>
            <a:off x="548640" y="2212848"/>
            <a:ext cx="69494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9" name="확인아이콘_2_dot"/>
          <p:cNvSpPr/>
          <p:nvPr/>
        </p:nvSpPr>
        <p:spPr>
          <a:xfrm>
            <a:off x="731520" y="2340864"/>
            <a:ext cx="438912" cy="438912"/>
          </a:xfrm>
          <a:prstGeom prst="ellipse">
            <a:avLst/>
          </a:prstGeom>
          <a:solidFill>
            <a:srgbClr val="079455"/>
          </a:solidFill>
          <a:ln w="12700">
            <a:solidFill>
              <a:srgbClr val="079455"/>
            </a:solidFill>
            <a:prstDash val="solid"/>
          </a:ln>
        </p:spPr>
      </p:sp>
      <p:pic>
        <p:nvPicPr>
          <p:cNvPr id="10" name="확인아이콘_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2446203"/>
            <a:ext cx="228234" cy="22823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12848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939"/>
                </a:solidFill>
              </a:rPr>
              <a:t>보호구 상태 확인·착용</a:t>
            </a:r>
            <a:endParaRPr lang="en-US" sz="1700" dirty="0"/>
          </a:p>
        </p:txBody>
      </p:sp>
      <p:sp>
        <p:nvSpPr>
          <p:cNvPr id="12" name="확인_3"/>
          <p:cNvSpPr/>
          <p:nvPr/>
        </p:nvSpPr>
        <p:spPr>
          <a:xfrm>
            <a:off x="548640" y="3054096"/>
            <a:ext cx="6949440" cy="694944"/>
          </a:xfrm>
          <a:prstGeom prst="roundRect">
            <a:avLst>
              <a:gd name="adj" fmla="val 15789"/>
            </a:avLst>
          </a:prstGeom>
          <a:solidFill>
            <a:srgbClr val="F2F4F7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확인아이콘_3_dot"/>
          <p:cNvSpPr/>
          <p:nvPr/>
        </p:nvSpPr>
        <p:spPr>
          <a:xfrm>
            <a:off x="731520" y="3182112"/>
            <a:ext cx="438912" cy="438912"/>
          </a:xfrm>
          <a:prstGeom prst="ellipse">
            <a:avLst/>
          </a:prstGeom>
          <a:solidFill>
            <a:srgbClr val="079455"/>
          </a:solidFill>
          <a:ln w="12700">
            <a:solidFill>
              <a:srgbClr val="079455"/>
            </a:solidFill>
            <a:prstDash val="solid"/>
          </a:ln>
        </p:spPr>
      </p:sp>
      <p:pic>
        <p:nvPicPr>
          <p:cNvPr id="14" name="확인아이콘_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9" y="3287451"/>
            <a:ext cx="228234" cy="22823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3054096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939"/>
                </a:solidFill>
              </a:rPr>
              <a:t>잠금장치·꼬리표 등 필요한 도구 준비</a:t>
            </a:r>
            <a:endParaRPr lang="en-US" sz="1700" dirty="0"/>
          </a:p>
        </p:txBody>
      </p:sp>
      <p:sp>
        <p:nvSpPr>
          <p:cNvPr id="16" name="확인_4"/>
          <p:cNvSpPr/>
          <p:nvPr/>
        </p:nvSpPr>
        <p:spPr>
          <a:xfrm>
            <a:off x="548640" y="3895344"/>
            <a:ext cx="69494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확인아이콘_4_dot"/>
          <p:cNvSpPr/>
          <p:nvPr/>
        </p:nvSpPr>
        <p:spPr>
          <a:xfrm>
            <a:off x="731520" y="4023360"/>
            <a:ext cx="438912" cy="438912"/>
          </a:xfrm>
          <a:prstGeom prst="ellipse">
            <a:avLst/>
          </a:prstGeom>
          <a:solidFill>
            <a:srgbClr val="079455"/>
          </a:solidFill>
          <a:ln w="12700">
            <a:solidFill>
              <a:srgbClr val="079455"/>
            </a:solidFill>
            <a:prstDash val="solid"/>
          </a:ln>
        </p:spPr>
      </p:sp>
      <p:pic>
        <p:nvPicPr>
          <p:cNvPr id="18" name="확인아이콘_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9" y="4128699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3895344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939"/>
                </a:solidFill>
              </a:rPr>
              <a:t>비상정지 스위치 위치·비상연락 방법 확인</a:t>
            </a:r>
            <a:endParaRPr lang="en-US" sz="1700" dirty="0"/>
          </a:p>
        </p:txBody>
      </p:sp>
      <p:sp>
        <p:nvSpPr>
          <p:cNvPr id="20" name="확인_5"/>
          <p:cNvSpPr/>
          <p:nvPr/>
        </p:nvSpPr>
        <p:spPr>
          <a:xfrm>
            <a:off x="548640" y="4736592"/>
            <a:ext cx="6949440" cy="694944"/>
          </a:xfrm>
          <a:prstGeom prst="roundRect">
            <a:avLst>
              <a:gd name="adj" fmla="val 15789"/>
            </a:avLst>
          </a:prstGeom>
          <a:solidFill>
            <a:srgbClr val="F2F4F7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1" name="확인아이콘_5_dot"/>
          <p:cNvSpPr/>
          <p:nvPr/>
        </p:nvSpPr>
        <p:spPr>
          <a:xfrm>
            <a:off x="731520" y="4864608"/>
            <a:ext cx="438912" cy="438912"/>
          </a:xfrm>
          <a:prstGeom prst="ellipse">
            <a:avLst/>
          </a:prstGeom>
          <a:solidFill>
            <a:srgbClr val="079455"/>
          </a:solidFill>
          <a:ln w="12700">
            <a:solidFill>
              <a:srgbClr val="079455"/>
            </a:solidFill>
            <a:prstDash val="solid"/>
          </a:ln>
        </p:spPr>
      </p:sp>
      <p:pic>
        <p:nvPicPr>
          <p:cNvPr id="22" name="확인아이콘_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859" y="4969947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71600" y="4736592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939"/>
                </a:solidFill>
              </a:rPr>
              <a:t>함께 일하는 사람에게 오늘 작업 순서·위험 공유(TBM)</a:t>
            </a:r>
            <a:endParaRPr lang="en-US" sz="1700" dirty="0"/>
          </a:p>
        </p:txBody>
      </p:sp>
      <p:sp>
        <p:nvSpPr>
          <p:cNvPr id="24" name="잠금카드"/>
          <p:cNvSpPr/>
          <p:nvPr/>
        </p:nvSpPr>
        <p:spPr>
          <a:xfrm>
            <a:off x="7863840" y="1371600"/>
            <a:ext cx="3779215" cy="4059936"/>
          </a:xfrm>
          <a:prstGeom prst="roundRect">
            <a:avLst>
              <a:gd name="adj" fmla="val 2903"/>
            </a:avLst>
          </a:prstGeom>
          <a:solidFill>
            <a:srgbClr val="0E1B2E"/>
          </a:solidFill>
          <a:ln w="12700">
            <a:solidFill>
              <a:srgbClr val="0E1B2E"/>
            </a:solidFill>
            <a:prstDash val="solid"/>
          </a:ln>
        </p:spPr>
      </p:sp>
      <p:sp>
        <p:nvSpPr>
          <p:cNvPr id="25" name="잠금아이콘_dot"/>
          <p:cNvSpPr/>
          <p:nvPr/>
        </p:nvSpPr>
        <p:spPr>
          <a:xfrm>
            <a:off x="8183880" y="1645920"/>
            <a:ext cx="713232" cy="713232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26" name="잠금아이콘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056" y="1817096"/>
            <a:ext cx="370881" cy="37088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183880" y="2514600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잠금·표지 4원칙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8183880" y="3017520"/>
            <a:ext cx="31391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4E7EC"/>
                </a:solidFill>
              </a:rPr>
              <a:t>① 내 자물쇠는 내가 건다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4E7EC"/>
                </a:solidFill>
              </a:rPr>
              <a:t>② 꼬리표에 성명·시간을 쓴다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4E7EC"/>
                </a:solidFill>
              </a:rPr>
              <a:t>③ 열쇠는 내가 가지고 있는다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4E7EC"/>
                </a:solidFill>
              </a:rPr>
              <a:t>④ 건 사람만 푼다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작업 절차 ① — 멈추고 잠그기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4. 작업 절차</a:t>
            </a:r>
            <a:endParaRPr lang="en-US" sz="1200" dirty="0"/>
          </a:p>
        </p:txBody>
      </p:sp>
      <p:sp>
        <p:nvSpPr>
          <p:cNvPr id="4" name="단계카드_1"/>
          <p:cNvSpPr/>
          <p:nvPr/>
        </p:nvSpPr>
        <p:spPr>
          <a:xfrm>
            <a:off x="548640" y="1234440"/>
            <a:ext cx="3515258" cy="489204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5" name="단계사진_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240938" cy="18733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3382135"/>
            <a:ext cx="457200" cy="457200"/>
          </a:xfrm>
          <a:prstGeom prst="ellipse">
            <a:avLst/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2E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단계명_1"/>
          <p:cNvSpPr txBox="1"/>
          <p:nvPr/>
        </p:nvSpPr>
        <p:spPr>
          <a:xfrm>
            <a:off x="1298448" y="3382135"/>
            <a:ext cx="2600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작업 전 회의·보호구 착용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02221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92D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위험</a:t>
            </a:r>
            <a:endParaRPr lang="en-US" sz="1100" dirty="0"/>
          </a:p>
        </p:txBody>
      </p:sp>
      <p:sp>
        <p:nvSpPr>
          <p:cNvPr id="9" name="위험_1"/>
          <p:cNvSpPr txBox="1"/>
          <p:nvPr/>
        </p:nvSpPr>
        <p:spPr>
          <a:xfrm>
            <a:off x="1508760" y="3949063"/>
            <a:ext cx="2372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2318"/>
                </a:solidFill>
              </a:rPr>
              <a:t>작업 순서를 모른 채 시작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6229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이렇게</a:t>
            </a:r>
            <a:endParaRPr lang="en-US" sz="1100" dirty="0"/>
          </a:p>
        </p:txBody>
      </p:sp>
      <p:sp>
        <p:nvSpPr>
          <p:cNvPr id="11" name="안전포인트_1"/>
          <p:cNvSpPr txBox="1"/>
          <p:nvPr/>
        </p:nvSpPr>
        <p:spPr>
          <a:xfrm>
            <a:off x="1508760" y="4589143"/>
            <a:ext cx="2372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603A"/>
                </a:solidFill>
              </a:rPr>
              <a:t>TBM에서 청소 구간·담당·잠금 순서 공유, 보호구 착용 서로 확인</a:t>
            </a:r>
            <a:endParaRPr lang="en-US" sz="1300" dirty="0"/>
          </a:p>
        </p:txBody>
      </p:sp>
      <p:sp>
        <p:nvSpPr>
          <p:cNvPr id="12" name="단계카드_2"/>
          <p:cNvSpPr/>
          <p:nvPr/>
        </p:nvSpPr>
        <p:spPr>
          <a:xfrm>
            <a:off x="4338218" y="1234440"/>
            <a:ext cx="3515258" cy="489204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3" name="단계사진_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1371600"/>
            <a:ext cx="3240938" cy="187337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1098" y="3382135"/>
            <a:ext cx="457200" cy="457200"/>
          </a:xfrm>
          <a:prstGeom prst="ellipse">
            <a:avLst/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2E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단계명_2"/>
          <p:cNvSpPr txBox="1"/>
          <p:nvPr/>
        </p:nvSpPr>
        <p:spPr>
          <a:xfrm>
            <a:off x="5088026" y="3382135"/>
            <a:ext cx="2600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운전 정지·전원 차단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521098" y="402221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92D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위험</a:t>
            </a:r>
            <a:endParaRPr lang="en-US" sz="1100" dirty="0"/>
          </a:p>
        </p:txBody>
      </p:sp>
      <p:sp>
        <p:nvSpPr>
          <p:cNvPr id="17" name="위험_2"/>
          <p:cNvSpPr txBox="1"/>
          <p:nvPr/>
        </p:nvSpPr>
        <p:spPr>
          <a:xfrm>
            <a:off x="5298338" y="3949063"/>
            <a:ext cx="2372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2318"/>
                </a:solidFill>
              </a:rPr>
              <a:t>다른 사람이 운전 스위치를 켬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521098" y="466229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이렇게</a:t>
            </a:r>
            <a:endParaRPr lang="en-US" sz="1100" dirty="0"/>
          </a:p>
        </p:txBody>
      </p:sp>
      <p:sp>
        <p:nvSpPr>
          <p:cNvPr id="19" name="안전포인트_2"/>
          <p:cNvSpPr txBox="1"/>
          <p:nvPr/>
        </p:nvSpPr>
        <p:spPr>
          <a:xfrm>
            <a:off x="5298338" y="4589143"/>
            <a:ext cx="2372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603A"/>
                </a:solidFill>
              </a:rPr>
              <a:t>정지 버튼으로 멈춘 뒤 해당 컨베이어 차단기를 내림</a:t>
            </a:r>
            <a:endParaRPr lang="en-US" sz="1300" dirty="0"/>
          </a:p>
        </p:txBody>
      </p:sp>
      <p:sp>
        <p:nvSpPr>
          <p:cNvPr id="20" name="단계카드_3"/>
          <p:cNvSpPr/>
          <p:nvPr/>
        </p:nvSpPr>
        <p:spPr>
          <a:xfrm>
            <a:off x="8127797" y="1234440"/>
            <a:ext cx="3515258" cy="489204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21" name="단계사진_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1371600"/>
            <a:ext cx="3240938" cy="187337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10677" y="3382135"/>
            <a:ext cx="457200" cy="457200"/>
          </a:xfrm>
          <a:prstGeom prst="ellipse">
            <a:avLst/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2E"/>
                </a:solidFill>
              </a:rPr>
              <a:t>3</a:t>
            </a:r>
            <a:endParaRPr lang="en-US" sz="1800" dirty="0"/>
          </a:p>
        </p:txBody>
      </p:sp>
      <p:sp>
        <p:nvSpPr>
          <p:cNvPr id="23" name="단계명_3"/>
          <p:cNvSpPr txBox="1"/>
          <p:nvPr/>
        </p:nvSpPr>
        <p:spPr>
          <a:xfrm>
            <a:off x="8877605" y="3382135"/>
            <a:ext cx="2600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잠금·표지 부착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10677" y="402221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92D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위험</a:t>
            </a:r>
            <a:endParaRPr lang="en-US" sz="1100" dirty="0"/>
          </a:p>
        </p:txBody>
      </p:sp>
      <p:sp>
        <p:nvSpPr>
          <p:cNvPr id="25" name="위험_3"/>
          <p:cNvSpPr txBox="1"/>
          <p:nvPr/>
        </p:nvSpPr>
        <p:spPr>
          <a:xfrm>
            <a:off x="9087917" y="3949063"/>
            <a:ext cx="2372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2318"/>
                </a:solidFill>
              </a:rPr>
              <a:t>청소 중 갑자기 가동되어 손이 끼임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310677" y="466229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이렇게</a:t>
            </a:r>
            <a:endParaRPr lang="en-US" sz="1100" dirty="0"/>
          </a:p>
        </p:txBody>
      </p:sp>
      <p:sp>
        <p:nvSpPr>
          <p:cNvPr id="27" name="안전포인트_3"/>
          <p:cNvSpPr txBox="1"/>
          <p:nvPr/>
        </p:nvSpPr>
        <p:spPr>
          <a:xfrm>
            <a:off x="9087917" y="4589143"/>
            <a:ext cx="2372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603A"/>
                </a:solidFill>
              </a:rPr>
              <a:t>차단기에 본인 자물쇠 + 꼬리표(성명·시간), 열쇠는 본인이 보관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작업 절차 ② — 확인하고 청소하고 되돌리기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4. 작업 절차</a:t>
            </a:r>
            <a:endParaRPr lang="en-US" sz="1200" dirty="0"/>
          </a:p>
        </p:txBody>
      </p:sp>
      <p:sp>
        <p:nvSpPr>
          <p:cNvPr id="4" name="단계카드_4"/>
          <p:cNvSpPr/>
          <p:nvPr/>
        </p:nvSpPr>
        <p:spPr>
          <a:xfrm>
            <a:off x="548640" y="1234440"/>
            <a:ext cx="3515258" cy="489204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5" name="단계사진_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240938" cy="18733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3382135"/>
            <a:ext cx="457200" cy="457200"/>
          </a:xfrm>
          <a:prstGeom prst="ellipse">
            <a:avLst/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2E"/>
                </a:solidFill>
              </a:rPr>
              <a:t>4</a:t>
            </a:r>
            <a:endParaRPr lang="en-US" sz="1800" dirty="0"/>
          </a:p>
        </p:txBody>
      </p:sp>
      <p:sp>
        <p:nvSpPr>
          <p:cNvPr id="7" name="단계명_4"/>
          <p:cNvSpPr txBox="1"/>
          <p:nvPr/>
        </p:nvSpPr>
        <p:spPr>
          <a:xfrm>
            <a:off x="1298448" y="3382135"/>
            <a:ext cx="2600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정지 상태 확인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02221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92D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위험</a:t>
            </a:r>
            <a:endParaRPr lang="en-US" sz="1100" dirty="0"/>
          </a:p>
        </p:txBody>
      </p:sp>
      <p:sp>
        <p:nvSpPr>
          <p:cNvPr id="9" name="위험_4"/>
          <p:cNvSpPr txBox="1"/>
          <p:nvPr/>
        </p:nvSpPr>
        <p:spPr>
          <a:xfrm>
            <a:off x="1508760" y="3949063"/>
            <a:ext cx="2372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2318"/>
                </a:solidFill>
              </a:rPr>
              <a:t>관성·잔류 에너지로 벨트가 움직임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6229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이렇게</a:t>
            </a:r>
            <a:endParaRPr lang="en-US" sz="1100" dirty="0"/>
          </a:p>
        </p:txBody>
      </p:sp>
      <p:sp>
        <p:nvSpPr>
          <p:cNvPr id="11" name="안전포인트_4"/>
          <p:cNvSpPr txBox="1"/>
          <p:nvPr/>
        </p:nvSpPr>
        <p:spPr>
          <a:xfrm>
            <a:off x="1508760" y="4589143"/>
            <a:ext cx="2372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603A"/>
                </a:solidFill>
              </a:rPr>
              <a:t>기동 버튼을 눌러 움직이지 않는지, 벨트·롤러가 완전히 멈췄는지 확인</a:t>
            </a:r>
            <a:endParaRPr lang="en-US" sz="1300" dirty="0"/>
          </a:p>
        </p:txBody>
      </p:sp>
      <p:sp>
        <p:nvSpPr>
          <p:cNvPr id="12" name="단계카드_5"/>
          <p:cNvSpPr/>
          <p:nvPr/>
        </p:nvSpPr>
        <p:spPr>
          <a:xfrm>
            <a:off x="4338218" y="1234440"/>
            <a:ext cx="3515258" cy="489204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3" name="단계사진_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1371600"/>
            <a:ext cx="3240938" cy="187337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1098" y="3382135"/>
            <a:ext cx="457200" cy="457200"/>
          </a:xfrm>
          <a:prstGeom prst="ellipse">
            <a:avLst/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2E"/>
                </a:solidFill>
              </a:rPr>
              <a:t>5</a:t>
            </a:r>
            <a:endParaRPr lang="en-US" sz="1800" dirty="0"/>
          </a:p>
        </p:txBody>
      </p:sp>
      <p:sp>
        <p:nvSpPr>
          <p:cNvPr id="15" name="단계명_5"/>
          <p:cNvSpPr txBox="1"/>
          <p:nvPr/>
        </p:nvSpPr>
        <p:spPr>
          <a:xfrm>
            <a:off x="5088026" y="3382135"/>
            <a:ext cx="2600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덮개 열고 청소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521098" y="402221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92D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위험</a:t>
            </a:r>
            <a:endParaRPr lang="en-US" sz="1100" dirty="0"/>
          </a:p>
        </p:txBody>
      </p:sp>
      <p:sp>
        <p:nvSpPr>
          <p:cNvPr id="17" name="위험_5"/>
          <p:cNvSpPr txBox="1"/>
          <p:nvPr/>
        </p:nvSpPr>
        <p:spPr>
          <a:xfrm>
            <a:off x="5298338" y="3949063"/>
            <a:ext cx="2372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2318"/>
                </a:solidFill>
              </a:rPr>
              <a:t>롤러 사이 끼임, 모서리 베임, 미끄러짐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521098" y="466229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이렇게</a:t>
            </a:r>
            <a:endParaRPr lang="en-US" sz="1100" dirty="0"/>
          </a:p>
        </p:txBody>
      </p:sp>
      <p:sp>
        <p:nvSpPr>
          <p:cNvPr id="19" name="안전포인트_5"/>
          <p:cNvSpPr txBox="1"/>
          <p:nvPr/>
        </p:nvSpPr>
        <p:spPr>
          <a:xfrm>
            <a:off x="5298338" y="4589143"/>
            <a:ext cx="2372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603A"/>
                </a:solidFill>
              </a:rPr>
              <a:t>손 대신 스크레이퍼, 물기·이물은 바로 치움, 덮개는 정해진 곳에</a:t>
            </a:r>
            <a:endParaRPr lang="en-US" sz="1300" dirty="0"/>
          </a:p>
        </p:txBody>
      </p:sp>
      <p:sp>
        <p:nvSpPr>
          <p:cNvPr id="20" name="단계카드_6"/>
          <p:cNvSpPr/>
          <p:nvPr/>
        </p:nvSpPr>
        <p:spPr>
          <a:xfrm>
            <a:off x="8127797" y="1234440"/>
            <a:ext cx="3515258" cy="489204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21" name="단계사진_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1371600"/>
            <a:ext cx="3240938" cy="187337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10677" y="3382135"/>
            <a:ext cx="457200" cy="457200"/>
          </a:xfrm>
          <a:prstGeom prst="ellipse">
            <a:avLst/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2E"/>
                </a:solidFill>
              </a:rPr>
              <a:t>6</a:t>
            </a:r>
            <a:endParaRPr lang="en-US" sz="1800" dirty="0"/>
          </a:p>
        </p:txBody>
      </p:sp>
      <p:sp>
        <p:nvSpPr>
          <p:cNvPr id="23" name="단계명_6"/>
          <p:cNvSpPr txBox="1"/>
          <p:nvPr/>
        </p:nvSpPr>
        <p:spPr>
          <a:xfrm>
            <a:off x="8877605" y="3382135"/>
            <a:ext cx="2600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복구·잠금 해제·시운전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10677" y="402221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92D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위험</a:t>
            </a:r>
            <a:endParaRPr lang="en-US" sz="1100" dirty="0"/>
          </a:p>
        </p:txBody>
      </p:sp>
      <p:sp>
        <p:nvSpPr>
          <p:cNvPr id="25" name="위험_6"/>
          <p:cNvSpPr txBox="1"/>
          <p:nvPr/>
        </p:nvSpPr>
        <p:spPr>
          <a:xfrm>
            <a:off x="9087917" y="3949063"/>
            <a:ext cx="2372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2318"/>
                </a:solidFill>
              </a:rPr>
              <a:t>덮개 없이 가동, 주변 사람 접근 중 가동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310677" y="4662295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794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이렇게</a:t>
            </a:r>
            <a:endParaRPr lang="en-US" sz="1100" dirty="0"/>
          </a:p>
        </p:txBody>
      </p:sp>
      <p:sp>
        <p:nvSpPr>
          <p:cNvPr id="27" name="안전포인트_6"/>
          <p:cNvSpPr txBox="1"/>
          <p:nvPr/>
        </p:nvSpPr>
        <p:spPr>
          <a:xfrm>
            <a:off x="9087917" y="4589143"/>
            <a:ext cx="2372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603A"/>
                </a:solidFill>
              </a:rPr>
              <a:t>덮개·공구 확인 → 인원 철수 확인 → 건 사람이 해제 → 알리고 시운전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절대 하지 말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5. 금지 사항</a:t>
            </a:r>
            <a:endParaRPr lang="en-US" sz="1200" dirty="0"/>
          </a:p>
        </p:txBody>
      </p:sp>
      <p:sp>
        <p:nvSpPr>
          <p:cNvPr id="4" name="금지_1"/>
          <p:cNvSpPr/>
          <p:nvPr/>
        </p:nvSpPr>
        <p:spPr>
          <a:xfrm>
            <a:off x="548640" y="1371600"/>
            <a:ext cx="5410048" cy="1965960"/>
          </a:xfrm>
          <a:prstGeom prst="roundRect">
            <a:avLst>
              <a:gd name="adj" fmla="val 5581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5" name="금지아이콘_1_dot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pic>
        <p:nvPicPr>
          <p:cNvPr id="6" name="금지아이콘_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" y="2128723"/>
            <a:ext cx="451714" cy="451714"/>
          </a:xfrm>
          <a:prstGeom prst="rect">
            <a:avLst/>
          </a:prstGeom>
        </p:spPr>
      </p:pic>
      <p:sp>
        <p:nvSpPr>
          <p:cNvPr id="7" name="금지문구_1"/>
          <p:cNvSpPr txBox="1"/>
          <p:nvPr/>
        </p:nvSpPr>
        <p:spPr>
          <a:xfrm>
            <a:off x="2011680" y="1645920"/>
            <a:ext cx="3672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2018"/>
                </a:solidFill>
              </a:rPr>
              <a:t>운전 중인 벨트·롤러에 손이나 도구를 넣지 않는다</a:t>
            </a:r>
            <a:endParaRPr lang="en-US" sz="2000" dirty="0"/>
          </a:p>
        </p:txBody>
      </p:sp>
      <p:sp>
        <p:nvSpPr>
          <p:cNvPr id="8" name="금지_2"/>
          <p:cNvSpPr/>
          <p:nvPr/>
        </p:nvSpPr>
        <p:spPr>
          <a:xfrm>
            <a:off x="6233008" y="1371600"/>
            <a:ext cx="5410048" cy="1965960"/>
          </a:xfrm>
          <a:prstGeom prst="roundRect">
            <a:avLst>
              <a:gd name="adj" fmla="val 5581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9" name="금지아이콘_2_dot"/>
          <p:cNvSpPr/>
          <p:nvPr/>
        </p:nvSpPr>
        <p:spPr>
          <a:xfrm>
            <a:off x="6553048" y="1920240"/>
            <a:ext cx="868680" cy="868680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pic>
        <p:nvPicPr>
          <p:cNvPr id="10" name="금지아이콘_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531" y="2128723"/>
            <a:ext cx="451714" cy="451714"/>
          </a:xfrm>
          <a:prstGeom prst="rect">
            <a:avLst/>
          </a:prstGeom>
        </p:spPr>
      </p:pic>
      <p:sp>
        <p:nvSpPr>
          <p:cNvPr id="11" name="금지문구_2"/>
          <p:cNvSpPr txBox="1"/>
          <p:nvPr/>
        </p:nvSpPr>
        <p:spPr>
          <a:xfrm>
            <a:off x="7696048" y="1645920"/>
            <a:ext cx="3672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2018"/>
                </a:solidFill>
              </a:rPr>
              <a:t>다른 사람의 자물쇠를 풀지 않는다</a:t>
            </a:r>
            <a:endParaRPr lang="en-US" sz="2000" dirty="0"/>
          </a:p>
        </p:txBody>
      </p:sp>
      <p:sp>
        <p:nvSpPr>
          <p:cNvPr id="12" name="금지_3"/>
          <p:cNvSpPr/>
          <p:nvPr/>
        </p:nvSpPr>
        <p:spPr>
          <a:xfrm>
            <a:off x="548640" y="3611880"/>
            <a:ext cx="5410048" cy="1965960"/>
          </a:xfrm>
          <a:prstGeom prst="roundRect">
            <a:avLst>
              <a:gd name="adj" fmla="val 5581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13" name="금지아이콘_3_dot"/>
          <p:cNvSpPr/>
          <p:nvPr/>
        </p:nvSpPr>
        <p:spPr>
          <a:xfrm>
            <a:off x="868680" y="4160520"/>
            <a:ext cx="868680" cy="868680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pic>
        <p:nvPicPr>
          <p:cNvPr id="14" name="금지아이콘_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163" y="4369003"/>
            <a:ext cx="451714" cy="451714"/>
          </a:xfrm>
          <a:prstGeom prst="rect">
            <a:avLst/>
          </a:prstGeom>
        </p:spPr>
      </p:pic>
      <p:sp>
        <p:nvSpPr>
          <p:cNvPr id="15" name="금지문구_3"/>
          <p:cNvSpPr txBox="1"/>
          <p:nvPr/>
        </p:nvSpPr>
        <p:spPr>
          <a:xfrm>
            <a:off x="2011680" y="3886200"/>
            <a:ext cx="3672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2018"/>
                </a:solidFill>
              </a:rPr>
              <a:t>덮개나 연동장치를 뗀 채 운전하지 않는다</a:t>
            </a:r>
            <a:endParaRPr lang="en-US" sz="2000" dirty="0"/>
          </a:p>
        </p:txBody>
      </p:sp>
      <p:sp>
        <p:nvSpPr>
          <p:cNvPr id="16" name="금지_4"/>
          <p:cNvSpPr/>
          <p:nvPr/>
        </p:nvSpPr>
        <p:spPr>
          <a:xfrm>
            <a:off x="6233008" y="3611880"/>
            <a:ext cx="5410048" cy="1965960"/>
          </a:xfrm>
          <a:prstGeom prst="roundRect">
            <a:avLst>
              <a:gd name="adj" fmla="val 5581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17" name="금지아이콘_4_dot"/>
          <p:cNvSpPr/>
          <p:nvPr/>
        </p:nvSpPr>
        <p:spPr>
          <a:xfrm>
            <a:off x="6553048" y="4160520"/>
            <a:ext cx="868680" cy="868680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pic>
        <p:nvPicPr>
          <p:cNvPr id="18" name="금지아이콘_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531" y="4369003"/>
            <a:ext cx="451714" cy="451714"/>
          </a:xfrm>
          <a:prstGeom prst="rect">
            <a:avLst/>
          </a:prstGeom>
        </p:spPr>
      </p:pic>
      <p:sp>
        <p:nvSpPr>
          <p:cNvPr id="19" name="금지문구_4"/>
          <p:cNvSpPr txBox="1"/>
          <p:nvPr/>
        </p:nvSpPr>
        <p:spPr>
          <a:xfrm>
            <a:off x="7696048" y="3886200"/>
            <a:ext cx="3672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2018"/>
                </a:solidFill>
              </a:rPr>
              <a:t>운전 중인 컨베이어 위로 넘어가지 않는다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이상·비상 시 이렇게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6. 비상 조치</a:t>
            </a:r>
            <a:endParaRPr lang="en-US" sz="1200" dirty="0"/>
          </a:p>
        </p:txBody>
      </p:sp>
      <p:sp>
        <p:nvSpPr>
          <p:cNvPr id="4" name="비상_1"/>
          <p:cNvSpPr/>
          <p:nvPr/>
        </p:nvSpPr>
        <p:spPr>
          <a:xfrm>
            <a:off x="548640" y="155448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5" name="비상아이콘_1_dot"/>
          <p:cNvSpPr/>
          <p:nvPr/>
        </p:nvSpPr>
        <p:spPr>
          <a:xfrm>
            <a:off x="1280160" y="1874520"/>
            <a:ext cx="914400" cy="914400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pic>
        <p:nvPicPr>
          <p:cNvPr id="6" name="비상아이콘_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209397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971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멈춘다</a:t>
            </a:r>
            <a:endParaRPr lang="en-US" sz="2200" dirty="0"/>
          </a:p>
        </p:txBody>
      </p:sp>
      <p:sp>
        <p:nvSpPr>
          <p:cNvPr id="8" name="비상설명_1"/>
          <p:cNvSpPr txBox="1"/>
          <p:nvPr/>
        </p:nvSpPr>
        <p:spPr>
          <a:xfrm>
            <a:off x="685800" y="3566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475467"/>
                </a:solidFill>
              </a:rPr>
              <a:t>가장 가까운 비상정지 스위치</a:t>
            </a:r>
            <a:endParaRPr lang="en-US" sz="13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741" y="3017520"/>
            <a:ext cx="310896" cy="310896"/>
          </a:xfrm>
          <a:prstGeom prst="rect">
            <a:avLst/>
          </a:prstGeom>
        </p:spPr>
      </p:pic>
      <p:sp>
        <p:nvSpPr>
          <p:cNvPr id="10" name="비상_2"/>
          <p:cNvSpPr/>
          <p:nvPr/>
        </p:nvSpPr>
        <p:spPr>
          <a:xfrm>
            <a:off x="3454298" y="155448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비상아이콘_2_dot"/>
          <p:cNvSpPr/>
          <p:nvPr/>
        </p:nvSpPr>
        <p:spPr>
          <a:xfrm>
            <a:off x="4185818" y="1874520"/>
            <a:ext cx="914400" cy="91440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2" name="비상아이콘_2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5274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591458" y="2971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알린다</a:t>
            </a:r>
            <a:endParaRPr lang="en-US" sz="2200" dirty="0"/>
          </a:p>
        </p:txBody>
      </p:sp>
      <p:sp>
        <p:nvSpPr>
          <p:cNvPr id="14" name="비상설명_2"/>
          <p:cNvSpPr txBox="1"/>
          <p:nvPr/>
        </p:nvSpPr>
        <p:spPr>
          <a:xfrm>
            <a:off x="3591458" y="3566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475467"/>
                </a:solidFill>
              </a:rPr>
              <a:t>큰 소리로 주변에 알림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400" y="3017520"/>
            <a:ext cx="310896" cy="310896"/>
          </a:xfrm>
          <a:prstGeom prst="rect">
            <a:avLst/>
          </a:prstGeom>
        </p:spPr>
      </p:pic>
      <p:sp>
        <p:nvSpPr>
          <p:cNvPr id="16" name="비상_3"/>
          <p:cNvSpPr/>
          <p:nvPr/>
        </p:nvSpPr>
        <p:spPr>
          <a:xfrm>
            <a:off x="6359957" y="155448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비상아이콘_3_dot"/>
          <p:cNvSpPr/>
          <p:nvPr/>
        </p:nvSpPr>
        <p:spPr>
          <a:xfrm>
            <a:off x="7091477" y="1874520"/>
            <a:ext cx="914400" cy="91440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8" name="비상아이콘_3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3" y="2093976"/>
            <a:ext cx="475488" cy="47548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97117" y="2971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보고한다</a:t>
            </a:r>
            <a:endParaRPr lang="en-US" sz="2200" dirty="0"/>
          </a:p>
        </p:txBody>
      </p:sp>
      <p:sp>
        <p:nvSpPr>
          <p:cNvPr id="20" name="비상설명_3"/>
          <p:cNvSpPr txBox="1"/>
          <p:nvPr/>
        </p:nvSpPr>
        <p:spPr>
          <a:xfrm>
            <a:off x="6497117" y="3566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475467"/>
                </a:solidFill>
              </a:rPr>
              <a:t>관리감독자 · 사내 비상연락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475467"/>
                </a:solidFill>
              </a:rPr>
              <a:t>내선 ○○○</a:t>
            </a:r>
            <a:endParaRPr lang="en-US" sz="13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058" y="3017520"/>
            <a:ext cx="310896" cy="310896"/>
          </a:xfrm>
          <a:prstGeom prst="rect">
            <a:avLst/>
          </a:prstGeom>
        </p:spPr>
      </p:pic>
      <p:sp>
        <p:nvSpPr>
          <p:cNvPr id="22" name="비상_4"/>
          <p:cNvSpPr/>
          <p:nvPr/>
        </p:nvSpPr>
        <p:spPr>
          <a:xfrm>
            <a:off x="9265615" y="155448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비상아이콘_4_dot"/>
          <p:cNvSpPr/>
          <p:nvPr/>
        </p:nvSpPr>
        <p:spPr>
          <a:xfrm>
            <a:off x="9997135" y="1874520"/>
            <a:ext cx="914400" cy="91440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24" name="비상아이콘_4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6591" y="2093976"/>
            <a:ext cx="475488" cy="47548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402775" y="2971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119</a:t>
            </a:r>
            <a:endParaRPr lang="en-US" sz="2200" dirty="0"/>
          </a:p>
        </p:txBody>
      </p:sp>
      <p:sp>
        <p:nvSpPr>
          <p:cNvPr id="26" name="비상설명_4"/>
          <p:cNvSpPr txBox="1"/>
          <p:nvPr/>
        </p:nvSpPr>
        <p:spPr>
          <a:xfrm>
            <a:off x="9402775" y="3566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475467"/>
                </a:solidFill>
              </a:rPr>
              <a:t>부상자는 무리하게 빼내지 말고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475467"/>
                </a:solidFill>
              </a:rPr>
              <a:t>119 지시에 따름</a:t>
            </a:r>
            <a:endParaRPr lang="en-US" sz="1350" dirty="0"/>
          </a:p>
        </p:txBody>
      </p:sp>
      <p:sp>
        <p:nvSpPr>
          <p:cNvPr id="27" name="비상위치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28" name="비상정지위치"/>
          <p:cNvSpPr txBox="1"/>
          <p:nvPr/>
        </p:nvSpPr>
        <p:spPr>
          <a:xfrm>
            <a:off x="822960" y="5166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비상정지 스위치 위치  </a:t>
            </a:r>
            <a:pPr indent="0" marL="0">
              <a:buNone/>
            </a:pPr>
            <a:r>
              <a:rPr lang="en-US" sz="1400" i="1" dirty="0">
                <a:solidFill>
                  <a:srgbClr val="98A2B3"/>
                </a:solidFill>
              </a:rPr>
              <a:t>예: 컨베이어 양 끝단·중간 조작반 3곳 — 사업장 위치로 바꿔 쓰세요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이해도 확인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4572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467"/>
                </a:solidFill>
              </a:rPr>
              <a:t>7. 확인 질문</a:t>
            </a:r>
            <a:endParaRPr lang="en-US" sz="1200" dirty="0"/>
          </a:p>
        </p:txBody>
      </p:sp>
      <p:sp>
        <p:nvSpPr>
          <p:cNvPr id="4" name="질문_1"/>
          <p:cNvSpPr/>
          <p:nvPr/>
        </p:nvSpPr>
        <p:spPr>
          <a:xfrm>
            <a:off x="548640" y="137160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18488"/>
            <a:ext cx="822960" cy="603504"/>
          </a:xfrm>
          <a:prstGeom prst="roundRect">
            <a:avLst>
              <a:gd name="adj" fmla="val 18182"/>
            </a:avLst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B2E"/>
                </a:solidFill>
              </a:rPr>
              <a:t>Q1</a:t>
            </a:r>
            <a:endParaRPr lang="en-US" sz="2200" dirty="0"/>
          </a:p>
        </p:txBody>
      </p:sp>
      <p:sp>
        <p:nvSpPr>
          <p:cNvPr id="6" name="질문문구_1"/>
          <p:cNvSpPr txBox="1"/>
          <p:nvPr/>
        </p:nvSpPr>
        <p:spPr>
          <a:xfrm>
            <a:off x="1874520" y="1371600"/>
            <a:ext cx="7253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939"/>
                </a:solidFill>
              </a:rPr>
              <a:t>청소 전에 차단기에 무엇을 해야 하나요?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991295" y="13716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8A2B3"/>
                </a:solidFill>
              </a:rPr>
              <a:t>답: ____________</a:t>
            </a:r>
            <a:endParaRPr lang="en-US" sz="1500" dirty="0"/>
          </a:p>
        </p:txBody>
      </p:sp>
      <p:sp>
        <p:nvSpPr>
          <p:cNvPr id="8" name="질문_2"/>
          <p:cNvSpPr/>
          <p:nvPr/>
        </p:nvSpPr>
        <p:spPr>
          <a:xfrm>
            <a:off x="548640" y="269748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944368"/>
            <a:ext cx="822960" cy="603504"/>
          </a:xfrm>
          <a:prstGeom prst="roundRect">
            <a:avLst>
              <a:gd name="adj" fmla="val 18182"/>
            </a:avLst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B2E"/>
                </a:solidFill>
              </a:rPr>
              <a:t>Q2</a:t>
            </a:r>
            <a:endParaRPr lang="en-US" sz="2200" dirty="0"/>
          </a:p>
        </p:txBody>
      </p:sp>
      <p:sp>
        <p:nvSpPr>
          <p:cNvPr id="10" name="질문문구_2"/>
          <p:cNvSpPr txBox="1"/>
          <p:nvPr/>
        </p:nvSpPr>
        <p:spPr>
          <a:xfrm>
            <a:off x="1874520" y="2697480"/>
            <a:ext cx="7253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939"/>
                </a:solidFill>
              </a:rPr>
              <a:t>잠금은 누가 풀 수 있나요?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991295" y="2697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8A2B3"/>
                </a:solidFill>
              </a:rPr>
              <a:t>답: ____________</a:t>
            </a:r>
            <a:endParaRPr lang="en-US" sz="1500" dirty="0"/>
          </a:p>
        </p:txBody>
      </p:sp>
      <p:sp>
        <p:nvSpPr>
          <p:cNvPr id="12" name="질문_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70248"/>
            <a:ext cx="822960" cy="603504"/>
          </a:xfrm>
          <a:prstGeom prst="roundRect">
            <a:avLst>
              <a:gd name="adj" fmla="val 18182"/>
            </a:avLst>
          </a:prstGeom>
          <a:solidFill>
            <a:srgbClr val="FFC4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B2E"/>
                </a:solidFill>
              </a:rPr>
              <a:t>Q3</a:t>
            </a:r>
            <a:endParaRPr lang="en-US" sz="2200" dirty="0"/>
          </a:p>
        </p:txBody>
      </p:sp>
      <p:sp>
        <p:nvSpPr>
          <p:cNvPr id="14" name="질문문구_3"/>
          <p:cNvSpPr txBox="1"/>
          <p:nvPr/>
        </p:nvSpPr>
        <p:spPr>
          <a:xfrm>
            <a:off x="1874520" y="4023360"/>
            <a:ext cx="7253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939"/>
                </a:solidFill>
              </a:rPr>
              <a:t>작업 중 끼임이 생기면 가장 먼저 무엇을 하나요?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991295" y="4023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8A2B3"/>
                </a:solidFill>
              </a:rPr>
              <a:t>답: ____________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교육 확인과 이 자료 고쳐 쓰는 법</a:t>
            </a:r>
            <a:endParaRPr lang="en-US" sz="2600" dirty="0"/>
          </a:p>
        </p:txBody>
      </p:sp>
      <p:sp>
        <p:nvSpPr>
          <p:cNvPr id="3" name="방법_1"/>
          <p:cNvSpPr/>
          <p:nvPr/>
        </p:nvSpPr>
        <p:spPr>
          <a:xfrm>
            <a:off x="548640" y="1325880"/>
            <a:ext cx="2567864" cy="3429000"/>
          </a:xfrm>
          <a:prstGeom prst="roundRect">
            <a:avLst>
              <a:gd name="adj" fmla="val 42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방법아이콘_1_dot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5" name="방법아이콘_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7824" y="16733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0D5DD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교육 확인 서명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20192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교육이 끝나면 이해도 질문 결과와 참석자 서명을 남깁니다. SafePlum 표준안전작업절차서 작성기나 엑셀 양식의 '교육 확인 서명부'를 쓰세요.</a:t>
            </a:r>
            <a:endParaRPr lang="en-US" sz="1300" dirty="0"/>
          </a:p>
        </p:txBody>
      </p:sp>
      <p:sp>
        <p:nvSpPr>
          <p:cNvPr id="9" name="방법_2"/>
          <p:cNvSpPr/>
          <p:nvPr/>
        </p:nvSpPr>
        <p:spPr>
          <a:xfrm>
            <a:off x="3390824" y="1325880"/>
            <a:ext cx="2567864" cy="3429000"/>
          </a:xfrm>
          <a:prstGeom prst="roundRect">
            <a:avLst>
              <a:gd name="adj" fmla="val 42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방법아이콘_2_dot"/>
          <p:cNvSpPr/>
          <p:nvPr/>
        </p:nvSpPr>
        <p:spPr>
          <a:xfrm>
            <a:off x="3665144" y="1645920"/>
            <a:ext cx="640080" cy="64008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1" name="방법아이콘_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17995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90008" y="16733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0D5DD"/>
                </a:solidFill>
              </a:rPr>
              <a:t>02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25146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작업 바꾸기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665144" y="3017520"/>
            <a:ext cx="20192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표지·개요·단계 장의 글자를 사업장 작업으로 바꿉니다. 단계가 더 있으면 '작업 절차' 장을 Ctrl+D로 복제하세요.</a:t>
            </a:r>
            <a:endParaRPr lang="en-US" sz="1300" dirty="0"/>
          </a:p>
        </p:txBody>
      </p:sp>
      <p:sp>
        <p:nvSpPr>
          <p:cNvPr id="15" name="방법_3"/>
          <p:cNvSpPr/>
          <p:nvPr/>
        </p:nvSpPr>
        <p:spPr>
          <a:xfrm>
            <a:off x="6233008" y="1325880"/>
            <a:ext cx="2567864" cy="3429000"/>
          </a:xfrm>
          <a:prstGeom prst="roundRect">
            <a:avLst>
              <a:gd name="adj" fmla="val 42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방법아이콘_3_dot"/>
          <p:cNvSpPr/>
          <p:nvPr/>
        </p:nvSpPr>
        <p:spPr>
          <a:xfrm>
            <a:off x="6507328" y="1645920"/>
            <a:ext cx="640080" cy="64008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17" name="방법아이콘_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1799539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932191" y="16733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0D5DD"/>
                </a:solidFill>
              </a:rPr>
              <a:t>03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6507328" y="25146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사진 넣기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507328" y="3017520"/>
            <a:ext cx="20192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단계 사진 칸을 우클릭 → [그림 바꾸기]로 실제 설비 사진을 넣습니다. 크기·위치는 그대로 유지됩니다.</a:t>
            </a:r>
            <a:endParaRPr lang="en-US" sz="1300" dirty="0"/>
          </a:p>
        </p:txBody>
      </p:sp>
      <p:sp>
        <p:nvSpPr>
          <p:cNvPr id="21" name="방법_4"/>
          <p:cNvSpPr/>
          <p:nvPr/>
        </p:nvSpPr>
        <p:spPr>
          <a:xfrm>
            <a:off x="9075191" y="1325880"/>
            <a:ext cx="2567864" cy="3429000"/>
          </a:xfrm>
          <a:prstGeom prst="roundRect">
            <a:avLst>
              <a:gd name="adj" fmla="val 42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방법아이콘_4_dot"/>
          <p:cNvSpPr/>
          <p:nvPr/>
        </p:nvSpPr>
        <p:spPr>
          <a:xfrm>
            <a:off x="9349511" y="1645920"/>
            <a:ext cx="640080" cy="640080"/>
          </a:xfrm>
          <a:prstGeom prst="ellipse">
            <a:avLst/>
          </a:prstGeom>
          <a:solidFill>
            <a:srgbClr val="FFC400"/>
          </a:solidFill>
          <a:ln w="12700">
            <a:solidFill>
              <a:srgbClr val="FFC400"/>
            </a:solidFill>
            <a:prstDash val="solid"/>
          </a:ln>
        </p:spPr>
      </p:sp>
      <p:pic>
        <p:nvPicPr>
          <p:cNvPr id="23" name="방법아이콘_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179953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774375" y="16733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0D5DD"/>
                </a:solidFill>
              </a:rPr>
              <a:t>04</a:t>
            </a:r>
            <a:endParaRPr lang="en-US" sz="2200" dirty="0"/>
          </a:p>
        </p:txBody>
      </p:sp>
      <p:sp>
        <p:nvSpPr>
          <p:cNvPr id="25" name="Text 19"/>
          <p:cNvSpPr txBox="1"/>
          <p:nvPr/>
        </p:nvSpPr>
        <p:spPr>
          <a:xfrm>
            <a:off x="9349511" y="25146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절차서와 맞추기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349511" y="3017520"/>
            <a:ext cx="20192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이 자료의 내용은 표준안전작업절차서(문서)와 같아야 합니다. 절차서를 개정하면 이 자료도 함께 고치세요.</a:t>
            </a:r>
            <a:endParaRPr lang="en-US" sz="1300" dirty="0"/>
          </a:p>
        </p:txBody>
      </p:sp>
      <p:sp>
        <p:nvSpPr>
          <p:cNvPr id="27" name="방법_안내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작성기  </a:t>
            </a:r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safeplum.com/tools/forms/sop — 예시 작업 고르기, 단계별 사진, 이해도 질문·서명까지 화면에서 작성하고 A4로 인쇄. 이 장은 교육 전에 지우세요.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8A2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fePlum SOP">
  <a:themeElements>
    <a:clrScheme name="SafePlum SOP">
      <a:dk1>
        <a:srgbClr val="1B2433"/>
      </a:dk1>
      <a:lt1>
        <a:srgbClr val="FFFFFF"/>
      </a:lt1>
      <a:dk2>
        <a:srgbClr val="0E1B2E"/>
      </a:dk2>
      <a:lt2>
        <a:srgbClr val="F2F4F7"/>
      </a:lt2>
      <a:accent1>
        <a:srgbClr val="FFC400"/>
      </a:accent1>
      <a:accent2>
        <a:srgbClr val="D92D20"/>
      </a:accent2>
      <a:accent3>
        <a:srgbClr val="079455"/>
      </a:accent3>
      <a:accent4>
        <a:srgbClr val="2E5AAC"/>
      </a:accent4>
      <a:accent5>
        <a:srgbClr val="667085"/>
      </a:accent5>
      <a:accent6>
        <a:srgbClr val="F79009"/>
      </a:accent6>
      <a:hlink>
        <a:srgbClr val="2E5AAC"/>
      </a:hlink>
      <a:folHlink>
        <a:srgbClr val="6941C6"/>
      </a:folHlink>
    </a:clrScheme>
    <a:fontScheme name="SafePlum SOP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SafePlum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표준안전작업절차 교육자료</dc:title>
  <dc:subject>PptxGenJS Presentation</dc:subject>
  <dc:creator>SafePlum</dc:creator>
  <cp:lastModifiedBy>SafePlum</cp:lastModifiedBy>
  <cp:revision>1</cp:revision>
  <dcterms:created xsi:type="dcterms:W3CDTF">2026-10-27T07:44:10Z</dcterms:created>
  <dcterms:modified xsi:type="dcterms:W3CDTF">2026-10-27T07:44:10Z</dcterms:modified>
</cp:coreProperties>
</file>